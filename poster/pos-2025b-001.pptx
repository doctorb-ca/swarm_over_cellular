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404050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D0CB00"/>
    <a:srgbClr val="E7E200"/>
    <a:srgbClr val="502604"/>
    <a:srgbClr val="FFF5E4"/>
    <a:srgbClr val="FDF6E7"/>
    <a:srgbClr val="FAEBCE"/>
    <a:srgbClr val="F9E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64" autoAdjust="0"/>
    <p:restoredTop sz="93405" autoAdjust="0"/>
  </p:normalViewPr>
  <p:slideViewPr>
    <p:cSldViewPr>
      <p:cViewPr>
        <p:scale>
          <a:sx n="33" d="100"/>
          <a:sy n="33" d="100"/>
        </p:scale>
        <p:origin x="1614" y="-3708"/>
      </p:cViewPr>
      <p:guideLst>
        <p:guide orient="horz" pos="13608"/>
        <p:guide pos="1020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1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2789E0B8-82DC-47C2-894E-93D3EC5A9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FE50E98-5640-43AA-9149-3DC112D6CA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ED1555-A62A-4FFE-8E57-322B5E185689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F2F67F2-1D3F-4067-B205-0CF4436B03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7C24036-F2C0-4577-9CFF-6E7A1D1EB4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7B15909-7D39-4B8C-B767-0185C3BC681A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B43998C9-EC2B-4CFB-A4D6-625BB17913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1F2B933-3872-4EE0-A050-7ACB23185B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B2322C-55E6-47C5-9CEF-98C19BF07D11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AD0F70B2-AFED-4DAA-9FE3-BACA6F780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6ADA77F0-DBD7-4181-AD97-72E7BB724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E415784-42FB-4806-A468-F1668068B0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8454CD-DB77-4E77-AE00-4D805B788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30442E80-2142-44D5-849D-A728B36B245B}" type="slidenum">
              <a:rPr lang="he-IL" altLang="he-IL"/>
              <a:pPr/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18663DC6-3DEA-BFD4-2C2F-62DBD9CA5A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L"/>
          </a:p>
        </p:txBody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26A4BB00-066A-FAB6-26EF-2B83FDDDE4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A3D7259A-005A-75AE-EFAB-5956A33D9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C74A273C-ADCB-428F-9B1B-C4F8051C8D9F}" type="slidenum">
              <a:rPr lang="he-IL" altLang="he-IL" sz="120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59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305B3ED-BE2E-4764-D64D-A68ACE87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52CE398-253E-4D2D-9CC7-4BA4A4EB1655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B6580E-ED5D-6E4A-9BDC-92E36F96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064ED9-910E-BDDA-26B9-0CDE9B1D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D9B9F7FF-B2D7-4CE0-A1F7-AB81AE2CAF99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4008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D96C9-DEF5-3F7B-3833-86961DA1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12D12C5-F7AE-43BA-AB15-DC245FA5BDB0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B2E80F-554D-D280-61DD-B58E92CE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59333B-3076-09F1-930E-499A1B37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997947E1-9007-4C0E-910A-80F857DF0FD5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6149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E0526A4-0CC4-87E3-6462-3AA8B4A0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D09C19D-77E0-4A11-A132-4C1E1B26416C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A887A9-D451-CC31-38F1-AF04AEC6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14C8C03-8D9C-E407-4FF4-586C80C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346222B6-B4A7-4506-B1F5-DF7DB57643B8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2071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D3ACF02-4E8B-C6C8-2E24-0F177D12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E035BDE-5F6D-4622-8B3E-5121BC46DCC3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9736162-CB86-93DD-D2CC-985C9261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3B2442D-AB2F-672D-2F4E-3C497D75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A1CA7552-3F05-4225-8ADF-F1E0FB957969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55019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1625AAC-C679-DAB0-D9E9-73509C44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27E9BE5-E556-480D-9E4F-E7545A44C06D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0E0FEA6-C109-BA57-AFE8-19E3EF43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337B3EB-26E9-BD35-FDD2-0AE75757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7E44F966-6CC2-4C3D-93AC-D8FD4783E068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00974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86D66D9-FC5C-2352-BA1C-10ED4F99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D9BA82E-24E9-42D9-909A-67A2735A9B82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D648571-CA73-0894-968C-4D66725A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9936C71-2DD2-F8D3-C702-6A467AA6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CE5D6649-CF43-47F8-82BE-37A51B8FC8AC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4258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1C416CA-AD6A-0C59-E2A2-D494EADD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0245314-DD1B-4548-92DE-3CBFD6BFEE65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DACED22-9D2D-3D6A-4EF0-12BD3947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981A03F-6666-3448-3945-6D4021FA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516E283A-3B86-48F9-BA51-6E527B77773E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61321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5C9A64C-7EA5-E8EF-4D65-BC668F8F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5E1F4FE-4275-486A-AE5A-E709EEA375D7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E63EC5E-6C89-4080-E732-2E838BE8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3A0FEE-4034-2EB3-DFF4-9B55C576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2358B345-8AB6-4305-9D22-76F58F2FF857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60184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A656F2-8822-BF28-FCB8-7916D4DF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C3DADE3-B410-4233-AAF4-703710F1A271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3512AA-6567-8CCE-5757-EE2D5FB0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45F02CB-E113-0480-18DB-EC137E4F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864963C6-AEB5-4795-A822-02FFC71CF7E9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447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B0FC956-7DDB-9094-5233-C481ED72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F29EB96-A3B9-46A1-989D-6E8AB574A255}" type="datetimeFigureOut">
              <a:rPr lang="he-IL"/>
              <a:pPr>
                <a:defRPr/>
              </a:pPr>
              <a:t>כ"ב/שבט/תשפ"ו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BDFEFFD-7D1E-401D-FC8C-63E206FF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D3155B-919D-7A01-07EB-A72C534E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fld id="{BBA49781-86E7-4263-8834-35888D51A30E}" type="slidenum">
              <a:rPr lang="he-IL" altLang="he-IL"/>
              <a:pPr/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07721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CB02868-95AB-4DCF-B3A5-67733ED7D7D7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8F27E7D-22C6-CB30-AEC9-FF63BCFCF5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2 Curious White Cat Facts to Know Before Adopting One">
            <a:extLst>
              <a:ext uri="{FF2B5EF4-FFF2-40B4-BE49-F238E27FC236}">
                <a16:creationId xmlns:a16="http://schemas.microsoft.com/office/drawing/2014/main" id="{6624B606-54F4-FE5D-E2FC-28F517EE8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" y="6438236"/>
            <a:ext cx="32404050" cy="3676716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1F3E6E-6663-96DE-13E7-2A9B3BBE7FBB}"/>
              </a:ext>
            </a:extLst>
          </p:cNvPr>
          <p:cNvSpPr/>
          <p:nvPr/>
        </p:nvSpPr>
        <p:spPr>
          <a:xfrm>
            <a:off x="16418048" y="27827126"/>
            <a:ext cx="15521361" cy="1225884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364" name="Rectangle: Rounded Corners 14363">
            <a:extLst>
              <a:ext uri="{FF2B5EF4-FFF2-40B4-BE49-F238E27FC236}">
                <a16:creationId xmlns:a16="http://schemas.microsoft.com/office/drawing/2014/main" id="{F664A630-8D04-69A7-63BB-169B93ED1527}"/>
              </a:ext>
            </a:extLst>
          </p:cNvPr>
          <p:cNvSpPr/>
          <p:nvPr/>
        </p:nvSpPr>
        <p:spPr>
          <a:xfrm>
            <a:off x="770832" y="21741346"/>
            <a:ext cx="31108710" cy="586043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349" name="Rectangle: Rounded Corners 14348">
            <a:extLst>
              <a:ext uri="{FF2B5EF4-FFF2-40B4-BE49-F238E27FC236}">
                <a16:creationId xmlns:a16="http://schemas.microsoft.com/office/drawing/2014/main" id="{74B9B10A-55DF-DB23-ECF5-262DBD4170C5}"/>
              </a:ext>
            </a:extLst>
          </p:cNvPr>
          <p:cNvSpPr/>
          <p:nvPr/>
        </p:nvSpPr>
        <p:spPr>
          <a:xfrm>
            <a:off x="571497" y="10318218"/>
            <a:ext cx="15846551" cy="1117228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4347" name="Rectangle: Rounded Corners 14346">
            <a:extLst>
              <a:ext uri="{FF2B5EF4-FFF2-40B4-BE49-F238E27FC236}">
                <a16:creationId xmlns:a16="http://schemas.microsoft.com/office/drawing/2014/main" id="{DEC4A2B2-5B6F-0427-CDC5-0DE70E1496B8}"/>
              </a:ext>
            </a:extLst>
          </p:cNvPr>
          <p:cNvSpPr/>
          <p:nvPr/>
        </p:nvSpPr>
        <p:spPr>
          <a:xfrm>
            <a:off x="582171" y="7053512"/>
            <a:ext cx="31142140" cy="295784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4339" name="TextBox 6">
            <a:extLst>
              <a:ext uri="{FF2B5EF4-FFF2-40B4-BE49-F238E27FC236}">
                <a16:creationId xmlns:a16="http://schemas.microsoft.com/office/drawing/2014/main" id="{5FE187BA-DA52-6D58-A29C-6BD3964E1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962" y="3132221"/>
            <a:ext cx="29765625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10000"/>
              </a:lnSpc>
            </a:pPr>
            <a:r>
              <a:rPr lang="en-US" altLang="he-IL" sz="10000" b="1" dirty="0"/>
              <a:t>Swarm Over Cellular</a:t>
            </a:r>
            <a:endParaRPr lang="he-IL" altLang="he-IL" sz="10000" b="1" dirty="0"/>
          </a:p>
        </p:txBody>
      </p:sp>
      <p:sp>
        <p:nvSpPr>
          <p:cNvPr id="14340" name="TextBox 9">
            <a:extLst>
              <a:ext uri="{FF2B5EF4-FFF2-40B4-BE49-F238E27FC236}">
                <a16:creationId xmlns:a16="http://schemas.microsoft.com/office/drawing/2014/main" id="{EE03D14F-769F-E982-99BD-6FDA7EFE6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461" y="4087314"/>
            <a:ext cx="210026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sz="8000" b="1" dirty="0">
                <a:solidFill>
                  <a:srgbClr val="000099"/>
                </a:solidFill>
              </a:rPr>
              <a:t>Bar Cohen </a:t>
            </a:r>
            <a:r>
              <a:rPr lang="en-US" altLang="he-IL" sz="8000" b="1" dirty="0" err="1">
                <a:solidFill>
                  <a:srgbClr val="000099"/>
                </a:solidFill>
              </a:rPr>
              <a:t>Aharonson</a:t>
            </a:r>
            <a:endParaRPr lang="he-IL" altLang="he-IL" sz="8000" b="1" dirty="0">
              <a:solidFill>
                <a:srgbClr val="000099"/>
              </a:solidFill>
            </a:endParaRPr>
          </a:p>
        </p:txBody>
      </p:sp>
      <p:sp>
        <p:nvSpPr>
          <p:cNvPr id="14341" name="TextBox 10">
            <a:extLst>
              <a:ext uri="{FF2B5EF4-FFF2-40B4-BE49-F238E27FC236}">
                <a16:creationId xmlns:a16="http://schemas.microsoft.com/office/drawing/2014/main" id="{F9C0CF7D-F3FB-AB43-8945-D9B1CA174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66964"/>
            <a:ext cx="3240404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sz="8000" b="1" dirty="0">
                <a:solidFill>
                  <a:srgbClr val="000099"/>
                </a:solidFill>
              </a:rPr>
              <a:t>Adviser: Prof. Omer Gurewitz</a:t>
            </a:r>
            <a:endParaRPr lang="en-US" altLang="he-IL" sz="8000" b="1" dirty="0">
              <a:solidFill>
                <a:srgbClr val="FFCB9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6A2B3-8814-AF96-DBB4-7E75601C9EC0}"/>
              </a:ext>
            </a:extLst>
          </p:cNvPr>
          <p:cNvSpPr txBox="1"/>
          <p:nvPr/>
        </p:nvSpPr>
        <p:spPr>
          <a:xfrm>
            <a:off x="679739" y="6902626"/>
            <a:ext cx="31239706" cy="29854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</a:rPr>
              <a:t>Objectives</a:t>
            </a:r>
            <a:endParaRPr lang="en-GB" sz="8000" b="1" dirty="0">
              <a:solidFill>
                <a:srgbClr val="000099"/>
              </a:solidFill>
            </a:endParaRPr>
          </a:p>
          <a:p>
            <a:pPr algn="just"/>
            <a:r>
              <a:rPr lang="en-GB" sz="5400" dirty="0"/>
              <a:t>Swarm over cellular is a project about building a cost-effective swarm from commercial drones, using cellular and mesh technology to extending the number of drones and the controlling distance by hundreds of km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44861A-4D9B-4832-8C2B-3999813396A3}"/>
              </a:ext>
            </a:extLst>
          </p:cNvPr>
          <p:cNvSpPr txBox="1"/>
          <p:nvPr/>
        </p:nvSpPr>
        <p:spPr>
          <a:xfrm>
            <a:off x="3189745" y="972975"/>
            <a:ext cx="18289587" cy="1950662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 algn="ctr" defTabSz="4320540" eaLnBrk="1" fontAlgn="auto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solidFill>
                  <a:srgbClr val="000099"/>
                </a:solidFill>
              </a:rPr>
              <a:t>Faculty of Engineering Sciences</a:t>
            </a:r>
            <a:endParaRPr lang="he-IL" sz="8000" b="1" dirty="0">
              <a:solidFill>
                <a:srgbClr val="000099"/>
              </a:solidFill>
            </a:endParaRPr>
          </a:p>
          <a:p>
            <a:pPr marL="1371600" indent="-1371600" algn="ctr" defTabSz="4320540" eaLnBrk="1" fontAlgn="auto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solidFill>
                  <a:srgbClr val="000099"/>
                </a:solidFill>
              </a:rPr>
              <a:t>School of Electrical &amp; Computer Engineering</a:t>
            </a:r>
            <a:endParaRPr lang="he-IL" sz="5400" b="1" dirty="0">
              <a:solidFill>
                <a:srgbClr val="000099"/>
              </a:solidFill>
            </a:endParaRPr>
          </a:p>
        </p:txBody>
      </p:sp>
      <p:sp>
        <p:nvSpPr>
          <p:cNvPr id="14343" name="TextBox 9">
            <a:extLst>
              <a:ext uri="{FF2B5EF4-FFF2-40B4-BE49-F238E27FC236}">
                <a16:creationId xmlns:a16="http://schemas.microsoft.com/office/drawing/2014/main" id="{9FF1FE37-EED0-A0AC-71CE-EE0F62106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038"/>
            <a:ext cx="3313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8375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he-IL" sz="4000" b="1" dirty="0">
                <a:solidFill>
                  <a:srgbClr val="000099"/>
                </a:solidFill>
              </a:rPr>
              <a:t>P-2025b-001</a:t>
            </a:r>
            <a:endParaRPr lang="he-IL" altLang="he-IL" sz="4000" b="1" dirty="0">
              <a:solidFill>
                <a:srgbClr val="0000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2700D-7216-2498-5843-0109DF1200DC}"/>
              </a:ext>
            </a:extLst>
          </p:cNvPr>
          <p:cNvSpPr txBox="1"/>
          <p:nvPr/>
        </p:nvSpPr>
        <p:spPr>
          <a:xfrm>
            <a:off x="615600" y="10390349"/>
            <a:ext cx="15982277" cy="202824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</a:rPr>
              <a:t>Implementation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We soldered a Rasbery pi onto Tello commercial drones and connect the Pi’s to the drones by Wi-Fi. The Pi’s can send command to the drones and receive back video.</a:t>
            </a:r>
            <a:br>
              <a:rPr lang="en-US" sz="4800" dirty="0"/>
            </a:b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The Pis can also send messages to each other over a dynamic mesh network that we created using BATMAN-adv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The swarm leader, which is connected to a cellular module, provides the swarm with internet access across the field.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Because of cellular sit behind CG- NAT we must use a server to make a connection between a PC and the Leader. </a:t>
            </a:r>
            <a:br>
              <a:rPr lang="en-US" sz="4800" dirty="0"/>
            </a:br>
            <a:r>
              <a:rPr lang="en-US" sz="4800" dirty="0"/>
              <a:t>We make it secure and easy to use using </a:t>
            </a:r>
            <a:r>
              <a:rPr lang="en-US" sz="4800" dirty="0" err="1"/>
              <a:t>Wireguard</a:t>
            </a:r>
            <a:r>
              <a:rPr lang="en-US" sz="4800" dirty="0"/>
              <a:t> –VPN</a:t>
            </a:r>
            <a:br>
              <a:rPr lang="en-US" sz="4800" dirty="0"/>
            </a:br>
            <a:endParaRPr lang="en-US" sz="48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  <a:p>
            <a:pPr algn="ctr"/>
            <a:endParaRPr lang="en-US" sz="8000" b="1" dirty="0">
              <a:solidFill>
                <a:srgbClr val="00009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88A54-C61B-4219-9EBA-94DE210DF14A}"/>
              </a:ext>
            </a:extLst>
          </p:cNvPr>
          <p:cNvSpPr txBox="1"/>
          <p:nvPr/>
        </p:nvSpPr>
        <p:spPr>
          <a:xfrm>
            <a:off x="16456395" y="27675710"/>
            <a:ext cx="15653030" cy="127727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  <a:latin typeface="+mn-lt"/>
              </a:rPr>
              <a:t>Network </a:t>
            </a:r>
            <a:r>
              <a:rPr lang="en-US" sz="8000" b="1" dirty="0">
                <a:solidFill>
                  <a:srgbClr val="000099"/>
                </a:solidFill>
              </a:rPr>
              <a:t>Evaluating</a:t>
            </a:r>
            <a:endParaRPr lang="en-GB" sz="6000" b="1" dirty="0">
              <a:solidFill>
                <a:srgbClr val="000099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As shown in the topology, there are several entities between the controlled drone and the PC.</a:t>
            </a:r>
            <a:r>
              <a:rPr lang="en-GB" sz="4800" dirty="0"/>
              <a:t> </a:t>
            </a:r>
          </a:p>
          <a:p>
            <a:pPr algn="just"/>
            <a:endParaRPr lang="en-GB" sz="5600" dirty="0"/>
          </a:p>
          <a:p>
            <a:pPr algn="just"/>
            <a:endParaRPr lang="en-GB" sz="5600" dirty="0"/>
          </a:p>
          <a:p>
            <a:pPr algn="just"/>
            <a:endParaRPr lang="en-GB" sz="5600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GB" sz="4800" dirty="0"/>
              <a:t>Packets travel from the control station (10.7.0.2) to distention drone (10.0.0.2).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4800" dirty="0"/>
              <a:t>They first pass through the server </a:t>
            </a:r>
            <a:r>
              <a:rPr lang="en-GB" sz="4800" dirty="0"/>
              <a:t>(10.7.0.1)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4800" dirty="0"/>
              <a:t>Then they move to the leader drone over the cellular link</a:t>
            </a:r>
            <a:r>
              <a:rPr lang="en-GB" sz="4800" dirty="0"/>
              <a:t> (10.7.0.10)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4800" dirty="0"/>
              <a:t>Finally, they reach the target drone inside the mesh network</a:t>
            </a:r>
            <a:r>
              <a:rPr lang="en-GB" sz="4800" dirty="0"/>
              <a:t>(10.0.0.2)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US" sz="4800" dirty="0"/>
              <a:t>The average round-trip time to any drone in the mesh is approximately 350 </a:t>
            </a:r>
            <a:r>
              <a:rPr lang="en-US" sz="4800" dirty="0" err="1"/>
              <a:t>ms</a:t>
            </a:r>
            <a:r>
              <a:rPr lang="en-GB" sz="4800" dirty="0"/>
              <a:t>.</a:t>
            </a:r>
          </a:p>
          <a:p>
            <a:pPr algn="just"/>
            <a:endParaRPr lang="en-GB" sz="4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93C65F-4F4B-9599-5B79-2C019E16E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2525" y="10402267"/>
            <a:ext cx="14979652" cy="11234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endPos="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B52F6B-E29A-6D87-566C-9142728516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878" y="30393996"/>
            <a:ext cx="14739098" cy="2570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73C184-7C67-4338-53F1-B162FD61FAF1}"/>
              </a:ext>
            </a:extLst>
          </p:cNvPr>
          <p:cNvSpPr txBox="1"/>
          <p:nvPr/>
        </p:nvSpPr>
        <p:spPr>
          <a:xfrm>
            <a:off x="1426808" y="22139030"/>
            <a:ext cx="11803986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000099"/>
                </a:solidFill>
              </a:rPr>
              <a:t>Topology</a:t>
            </a:r>
            <a:endParaRPr lang="en-GB" sz="6600" b="1" dirty="0">
              <a:solidFill>
                <a:srgbClr val="000099"/>
              </a:solidFill>
            </a:endParaRPr>
          </a:p>
          <a:p>
            <a:endParaRPr lang="en-IL" dirty="0"/>
          </a:p>
        </p:txBody>
      </p:sp>
      <p:sp>
        <p:nvSpPr>
          <p:cNvPr id="14360" name="TextBox 14359">
            <a:extLst>
              <a:ext uri="{FF2B5EF4-FFF2-40B4-BE49-F238E27FC236}">
                <a16:creationId xmlns:a16="http://schemas.microsoft.com/office/drawing/2014/main" id="{333C5B56-36DB-7677-AE11-A8F6EABE66CD}"/>
              </a:ext>
            </a:extLst>
          </p:cNvPr>
          <p:cNvSpPr txBox="1"/>
          <p:nvPr/>
        </p:nvSpPr>
        <p:spPr>
          <a:xfrm>
            <a:off x="20717852" y="25128280"/>
            <a:ext cx="1368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Pi</a:t>
            </a:r>
            <a:endParaRPr lang="en-IL" dirty="0"/>
          </a:p>
        </p:txBody>
      </p:sp>
      <p:sp>
        <p:nvSpPr>
          <p:cNvPr id="14366" name="Rectangle: Rounded Corners 14365">
            <a:extLst>
              <a:ext uri="{FF2B5EF4-FFF2-40B4-BE49-F238E27FC236}">
                <a16:creationId xmlns:a16="http://schemas.microsoft.com/office/drawing/2014/main" id="{5A6A4AF0-FF4C-B5D4-6891-9A7F860DFF82}"/>
              </a:ext>
            </a:extLst>
          </p:cNvPr>
          <p:cNvSpPr/>
          <p:nvPr/>
        </p:nvSpPr>
        <p:spPr>
          <a:xfrm>
            <a:off x="740087" y="40258014"/>
            <a:ext cx="31242824" cy="279294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17AFC-DFDC-17D6-5215-1E5DDF95BF19}"/>
              </a:ext>
            </a:extLst>
          </p:cNvPr>
          <p:cNvSpPr txBox="1"/>
          <p:nvPr/>
        </p:nvSpPr>
        <p:spPr>
          <a:xfrm>
            <a:off x="-164231" y="28580830"/>
            <a:ext cx="161239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000099"/>
                </a:solidFill>
              </a:rPr>
              <a:t>Network Configuration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9B89DF-0019-1723-B350-F66712AEE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80" y="22849617"/>
            <a:ext cx="31434440" cy="432837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96BCE7-E2B7-2968-87BB-FBA870A04717}"/>
              </a:ext>
            </a:extLst>
          </p:cNvPr>
          <p:cNvSpPr/>
          <p:nvPr/>
        </p:nvSpPr>
        <p:spPr>
          <a:xfrm>
            <a:off x="689790" y="27810669"/>
            <a:ext cx="15276008" cy="1225884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23D2E-47A8-0FB7-8BF6-2D9A29293D7F}"/>
              </a:ext>
            </a:extLst>
          </p:cNvPr>
          <p:cNvSpPr txBox="1"/>
          <p:nvPr/>
        </p:nvSpPr>
        <p:spPr>
          <a:xfrm>
            <a:off x="797315" y="27635090"/>
            <a:ext cx="15276008" cy="20621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  <a:latin typeface="+mn-lt"/>
              </a:rPr>
              <a:t>Comparing Protocols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4800" dirty="0"/>
              <a:t>As</a:t>
            </a:r>
            <a:endParaRPr lang="en-GB" sz="5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92AA5-93E4-07BE-647D-E4D30EC88822}"/>
              </a:ext>
            </a:extLst>
          </p:cNvPr>
          <p:cNvSpPr txBox="1"/>
          <p:nvPr/>
        </p:nvSpPr>
        <p:spPr>
          <a:xfrm>
            <a:off x="722002" y="40069511"/>
            <a:ext cx="31002309" cy="28007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252000" rIns="252000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0099"/>
                </a:solidFill>
                <a:latin typeface="+mn-lt"/>
              </a:rPr>
              <a:t>Summery</a:t>
            </a:r>
          </a:p>
          <a:p>
            <a:r>
              <a:rPr lang="en-GB" sz="4800" dirty="0"/>
              <a:t>We created a swarm out of commercial drones by just the price of 25$ per drone* that can </a:t>
            </a:r>
            <a:r>
              <a:rPr lang="en-US" sz="4800" dirty="0"/>
              <a:t>operate</a:t>
            </a:r>
            <a:r>
              <a:rPr lang="en-GB" sz="4800" dirty="0"/>
              <a:t> and move freely almost everywhere in the country! *</a:t>
            </a:r>
            <a:r>
              <a:rPr lang="en-US" sz="4800" dirty="0"/>
              <a:t>(addition 11$ for the leader+ additional 3$ monthly data plan)</a:t>
            </a:r>
            <a:endParaRPr lang="en-GB" sz="5600" dirty="0"/>
          </a:p>
        </p:txBody>
      </p:sp>
      <p:sp>
        <p:nvSpPr>
          <p:cNvPr id="14362" name="TextBox 14361">
            <a:extLst>
              <a:ext uri="{FF2B5EF4-FFF2-40B4-BE49-F238E27FC236}">
                <a16:creationId xmlns:a16="http://schemas.microsoft.com/office/drawing/2014/main" id="{799F81FB-F456-5F38-E134-E5273EA86BFA}"/>
              </a:ext>
            </a:extLst>
          </p:cNvPr>
          <p:cNvSpPr txBox="1"/>
          <p:nvPr/>
        </p:nvSpPr>
        <p:spPr>
          <a:xfrm>
            <a:off x="22691659" y="24864655"/>
            <a:ext cx="4878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Leader</a:t>
            </a:r>
            <a:endParaRPr lang="en-IL" dirty="0"/>
          </a:p>
        </p:txBody>
      </p:sp>
      <p:sp>
        <p:nvSpPr>
          <p:cNvPr id="14359" name="TextBox 14358">
            <a:extLst>
              <a:ext uri="{FF2B5EF4-FFF2-40B4-BE49-F238E27FC236}">
                <a16:creationId xmlns:a16="http://schemas.microsoft.com/office/drawing/2014/main" id="{C46333BC-89C9-F6F5-0C42-32BFABEF3280}"/>
              </a:ext>
            </a:extLst>
          </p:cNvPr>
          <p:cNvSpPr txBox="1"/>
          <p:nvPr/>
        </p:nvSpPr>
        <p:spPr>
          <a:xfrm>
            <a:off x="13666077" y="25255640"/>
            <a:ext cx="3087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Cellular</a:t>
            </a:r>
            <a:br>
              <a:rPr lang="en-US" sz="4800" dirty="0"/>
            </a:br>
            <a:r>
              <a:rPr lang="en-US" sz="4800" dirty="0"/>
              <a:t>(CG-NAT)</a:t>
            </a:r>
            <a:endParaRPr lang="en-IL" sz="4800" dirty="0"/>
          </a:p>
        </p:txBody>
      </p:sp>
      <p:sp>
        <p:nvSpPr>
          <p:cNvPr id="14358" name="TextBox 14357">
            <a:extLst>
              <a:ext uri="{FF2B5EF4-FFF2-40B4-BE49-F238E27FC236}">
                <a16:creationId xmlns:a16="http://schemas.microsoft.com/office/drawing/2014/main" id="{D16D3BC1-6F53-AE60-E767-56BE37DA2FB8}"/>
              </a:ext>
            </a:extLst>
          </p:cNvPr>
          <p:cNvSpPr txBox="1"/>
          <p:nvPr/>
        </p:nvSpPr>
        <p:spPr>
          <a:xfrm>
            <a:off x="11334905" y="25215079"/>
            <a:ext cx="1999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Server</a:t>
            </a:r>
            <a:endParaRPr lang="en-IL" dirty="0"/>
          </a:p>
        </p:txBody>
      </p:sp>
      <p:sp>
        <p:nvSpPr>
          <p:cNvPr id="14357" name="TextBox 14356">
            <a:extLst>
              <a:ext uri="{FF2B5EF4-FFF2-40B4-BE49-F238E27FC236}">
                <a16:creationId xmlns:a16="http://schemas.microsoft.com/office/drawing/2014/main" id="{DDDDB0FA-FC0F-EFF5-F123-1E595C32454B}"/>
              </a:ext>
            </a:extLst>
          </p:cNvPr>
          <p:cNvSpPr txBox="1"/>
          <p:nvPr/>
        </p:nvSpPr>
        <p:spPr>
          <a:xfrm>
            <a:off x="5829042" y="25210485"/>
            <a:ext cx="20361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Router </a:t>
            </a:r>
            <a:br>
              <a:rPr lang="en-US" sz="4400" dirty="0"/>
            </a:br>
            <a:r>
              <a:rPr lang="en-US" sz="4400" dirty="0"/>
              <a:t>(NAT)</a:t>
            </a:r>
            <a:endParaRPr lang="en-IL" sz="4400" dirty="0"/>
          </a:p>
        </p:txBody>
      </p:sp>
      <p:sp>
        <p:nvSpPr>
          <p:cNvPr id="14356" name="TextBox 14355">
            <a:extLst>
              <a:ext uri="{FF2B5EF4-FFF2-40B4-BE49-F238E27FC236}">
                <a16:creationId xmlns:a16="http://schemas.microsoft.com/office/drawing/2014/main" id="{2678B0B9-FEB8-F134-3B08-A0E2995CEE3B}"/>
              </a:ext>
            </a:extLst>
          </p:cNvPr>
          <p:cNvSpPr txBox="1"/>
          <p:nvPr/>
        </p:nvSpPr>
        <p:spPr>
          <a:xfrm>
            <a:off x="2793579" y="25492438"/>
            <a:ext cx="1039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PC</a:t>
            </a:r>
            <a:endParaRPr lang="en-IL" dirty="0"/>
          </a:p>
        </p:txBody>
      </p:sp>
      <p:sp>
        <p:nvSpPr>
          <p:cNvPr id="14363" name="TextBox 14362">
            <a:extLst>
              <a:ext uri="{FF2B5EF4-FFF2-40B4-BE49-F238E27FC236}">
                <a16:creationId xmlns:a16="http://schemas.microsoft.com/office/drawing/2014/main" id="{31F133DE-B7C6-987C-BC09-9D7B6292782B}"/>
              </a:ext>
            </a:extLst>
          </p:cNvPr>
          <p:cNvSpPr txBox="1"/>
          <p:nvPr/>
        </p:nvSpPr>
        <p:spPr>
          <a:xfrm>
            <a:off x="26345909" y="22470363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Drones</a:t>
            </a:r>
            <a:endParaRPr lang="en-IL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2468A6-8CF2-A310-EBDF-39BE091749DB}"/>
              </a:ext>
            </a:extLst>
          </p:cNvPr>
          <p:cNvSpPr txBox="1"/>
          <p:nvPr/>
        </p:nvSpPr>
        <p:spPr>
          <a:xfrm>
            <a:off x="16700651" y="25099075"/>
            <a:ext cx="209704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Cellular</a:t>
            </a:r>
            <a:br>
              <a:rPr lang="en-US" sz="4400" dirty="0"/>
            </a:br>
            <a:r>
              <a:rPr lang="en-US" sz="4400" dirty="0"/>
              <a:t>modem</a:t>
            </a:r>
            <a:endParaRPr lang="en-IL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5142</TotalTime>
  <Words>329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ערכת נושא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בר כהן אהרונסון</cp:lastModifiedBy>
  <cp:revision>204</cp:revision>
  <dcterms:created xsi:type="dcterms:W3CDTF">2010-03-24T06:07:16Z</dcterms:created>
  <dcterms:modified xsi:type="dcterms:W3CDTF">2026-02-09T05:11:50Z</dcterms:modified>
</cp:coreProperties>
</file>